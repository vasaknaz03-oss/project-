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Добрый день! Тема моего сообщения — разделы Речи Посполитой и восстание под руководством Тадеуша Костюшко. После этих событий конца XVIII века белорусские земли больше чем на 120 лет вошли в состав Российской империи. А ещё с ними связана судьба Михаила Клеофаса Огинского и его знаменитый полонез «Прощание с Родиной».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 1569 года, после Люблинской унии, Королевство Польское и Великое княжество Литовское, в которое входили и белорусские земли, составляли одно государство — Речь Посполитую. К середине XVIII века это была огромная, но очень слабая страна. Главная беда — «либерум вето»: любой депутат сейма мог сказать «не позволяю» и сорвать решения всего сейма. Армия была в несколько раз меньше, чем у соседей, а соседи — Россия, Пруссия и Австрия — постоянно вмешивались в её дела. Даже король Станислав Август Понятовский был избран в 1764 году при поддержке Екатерины II.
На слайде — гравюра 1773 года «Пирог королей»: монархи трёх держав делят карту страны, а польский король в центре с трудом удерживает корону.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1772 году, воспользовавшись смутой в стране, три державы договорились и забрали около трети её территории. России достались восточные белорусские земли — Полоцк, Витебск, Могилёв, Гомель, Мстиславль — до рек Западная Двина, Друть и Днепр. Утверждал раздел сейм 1773 года. На картине Яна Матейко изображён депутат от Новогрудского воеводства Тадеуш Рейтан, уроженец нынешнего Ляховичского района. В знак протеста он лёг на пороге зала и не выпускал депутатов. Но раздел всё равно утвердили.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Потеря трети страны стала шоком. В 1788 году начал работу Четырёхлетний сейм, и 3 мая 1791 года он принял Конституцию — первую в Европе и вторую в мире после американской. Она отменила либерум вето, сделала трон наследственным, разделила власть на три ветви и предусматривала армию в 100 тысяч человек. А осенью «Взаимное заручение обоих народов» подтвердило равные права Великого княжества Литовского и Польши. На картине Матейко — торжественное шествие депутатов в день принятия Конституции.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Но реформы не понравились соседям. В 1792 году часть магнатов при поддержке Екатерины II создала Тарговицкую конфедерацию, и началась война с Россией. Тогда и прославился генерал Тадеуш Костюшко: под Дубенкой он сдерживал противника, который превосходил его в несколько раз. Но король перешёл на сторону тарговичан, и война была проиграна.
В январе 1793 года Россия и Пруссия подписали договор о втором разделе. Утверждал его последний в истории Речи Посполитой сейм — он проходил в Гродно, в Новом замке, который вы видите на фото. Депутаты в знак протеста молчали, и тогда было объявлено: «Молчание — знак согласия». Поэтому его называют «немым» сеймом. К России отошла центральная часть Беларуси с Минском.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Тадеуш Костюшко родился 4 февраля 1746 года в фольварке Меречёвщина возле Косова — сейчас это Ивацевичский район Брестской области. Учился в Рыцарской школе в Варшаве, затем в Париже. В 1776 году уехал в Америку и около восьми лет воевал за независимость США: строил укрепления под Саратогой и крепость Вест-Пойнт, получил звание бригадного генерала. Сегодня Костюшко — национальный герой сразу четырёх стран: Беларуси, Польши, Литвы и США. На фото — восстановленный дом в Меречёвщине, где с 2004 года работает музей-усадьба.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24 марта 1794 года на Рыночной площади Кракова Костюшко принёс присягу народу и стал Начальником восстания. Он поклялся использовать власть только для защиты границ, независимости народа и всеобщей свободы. Уже 4 апреля под Рацлавицами повстанцы разбили русский отряд. Важную роль сыграли крестьяне-косиньеры — они шли в атаку с косами, насаженными, как пики. В апреле восстали Варшава, где горожан повёл сапожник Ян Килинский, и Вильно. А 7 мая Костюшко издал Поланецкий универсал: крестьянам объявлялась личная свобода, а барщина уменьшалась на четверть или даже наполовину.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Великом княжестве Литовском восстание началось в ночь на 23 апреля в Вильно. Его возглавил Якуб Ясинский — военный инженер и поэт, сторонник полной отмены крепостного права. Повстанцы взяли в плен более тысячи солдат гарнизона и провозгласили Акт восстания литовского народа. Бои шли и на территории Беларуси: в мае Ясинский разбил русский отряд под Ошмянами, а Гродно оставалось в руках повстанцев до октября. В восстании участвовал и Михаил Клеофас Огинский — на собственные деньги он сформировал батальон егерей. Но силы были неравны: 12 августа русские войска взяли Вильно, а в сентябре корпус Суворова разбил повстанцев под Крупчицами возле Кобрина и под Брестом.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Решающее сражение произошло 10 октября 1794 года под Мацеёвицами. Повстанцы проиграли, а тяжело раненный Костюшко попал в плен — его увезли в Петербург и заключили в Петропавловскую крепость. 4 ноября войска Суворова штурмом взяли Прагу — предместье Варшавы. Погибли тысячи защитников и мирных жителей, среди них Якуб Ясинский. На следующий день Варшава капитулировала, а 16 ноября последние отряды сложили оружие. Костюшко освободил только в 1796 году новый император Павел 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24 октября 1795 года Россия, Пруссия и Австрия поделили оставшиеся земли. 25 ноября в Гродно король Станислав Август отрёкся от престола. Речь Посполитая исчезла с карты Европы. Все белорусские земли вошли в состав Российской империи и были разделены на губернии. Многие участники восстания эмигрировали. В 1797 году в Италии были созданы Польские легионы, и там родилась песня «Ещё Польша не погибла» — нынешний гимн Польши.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 наконец — о связи этой истории с музыкой. Михаил Клеофас Огинский — дипломат, участник восстания и композитор. В годы восстания он писал боевые песни и марши, которые пели повстанцы. После поражения ему пришлось покинуть родину, и по традиции именно с 1794 годом связывают его самый известный полонез ля минор — «Прощание с Родиной». Позже Огинский вернулся и с 1802 года жил в усадьбе Залесье под Сморгонью — сейчас там музей-усадьба. Интересное совпадение: Костюшко и Огинский умерли в один день — 15 октября, с разницей в 16 лет.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Разделы Речи Посполитой — это история о том, как государство погибло из-за внутренней слабости и давления сильных соседей. А восстание Костюшко показало, что люди до последнего пытались его спасти. Память об этих событиях живёт и в музыке — в полонезе Огинского, который знает весь мир. Спасибо за внимание!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1789359" cy="6455664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A8824B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2910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2910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Я. Матейко. Костюшко под Рацлавицам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1280160" y="1600200"/>
            <a:ext cx="9631375" cy="3200400"/>
          </a:xfrm>
          <a:prstGeom prst="rect">
            <a:avLst/>
          </a:prstGeom>
          <a:solidFill>
            <a:srgbClr val="000000">
              <a:alpha val="65000"/>
            </a:srgbClr>
          </a:solidFill>
          <a:ln w="15875">
            <a:solidFill>
              <a:srgbClr val="A8824B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1463040" y="1783080"/>
            <a:ext cx="92656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Разделы Речи Посполитой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и восстание Тадеуша Костюшко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1554480" y="3566160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6CF9E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1772 — 1795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1554480" y="4069080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Белорусская музыкальная литература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6949440" y="57150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Выполнила: ______________________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4114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D0D0D0"/>
                </a:solidFill>
              </a:rPr>
              <a:t>Я. Матейко. «Костюшко под Рацлавицами» (1888)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Причины разделов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5623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Речь Посполитая — общее государство Королевства Польского и Великого княжества Литовского (с 1569 г.). В состав ВКЛ входили белорусские земли.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377440"/>
            <a:ext cx="562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Внутренние причины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07208"/>
            <a:ext cx="5623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«Либерум вето»: один депутат мог сорвать решения сейма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Борьба магнатов, слабая власть короля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Малочисленная армия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114800"/>
            <a:ext cx="562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Внешние причины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544568"/>
            <a:ext cx="5623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Сильные соседи: Россия, Пруссия и Австрия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Вмешательство во внутренние дела страны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Король Станислав Август Понятовский избран в 1764 г. при поддержке Екатерины II</a:t>
            </a:r>
            <a:endParaRPr lang="en-US" sz="1600" dirty="0"/>
          </a:p>
        </p:txBody>
      </p:sp>
      <p:sp>
        <p:nvSpPr>
          <p:cNvPr id="9" name="Пирог королей frame"/>
          <p:cNvSpPr/>
          <p:nvPr/>
        </p:nvSpPr>
        <p:spPr>
          <a:xfrm>
            <a:off x="6455664" y="1399032"/>
            <a:ext cx="5248656" cy="3529584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30000"/>
              </a:srgbClr>
            </a:outerShdw>
          </a:effectLst>
        </p:spPr>
      </p:sp>
      <p:pic>
        <p:nvPicPr>
          <p:cNvPr id="10" name="Пирог королей" descr="Пирог короле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9672" y="1463040"/>
            <a:ext cx="5120640" cy="34015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519672" y="50292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</a:rPr>
              <a:t>«Пирог королей» — аллегория первого раздела (гравюра, 1773 г.). Монархи России, Австрии и Пруссии делят карту страны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2910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Первый раздел — 1772 год</a:t>
            </a:r>
            <a:endParaRPr lang="en-US" sz="3200" dirty="0"/>
          </a:p>
        </p:txBody>
      </p:sp>
      <p:sp>
        <p:nvSpPr>
          <p:cNvPr id="4" name="Рейтан frame"/>
          <p:cNvSpPr/>
          <p:nvPr/>
        </p:nvSpPr>
        <p:spPr>
          <a:xfrm>
            <a:off x="484632" y="1399032"/>
            <a:ext cx="6620256" cy="38770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30000"/>
              </a:srgbClr>
            </a:outerShdw>
          </a:effectLst>
        </p:spPr>
      </p:sp>
      <p:pic>
        <p:nvPicPr>
          <p:cNvPr id="5" name="Рейтан" descr="Рейта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6492240" cy="37490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34924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</a:rPr>
              <a:t>Я. Матейко. «Рейтан. Упадок Польши» (1866). Депутат Т. Рейтан пытается помешать утверждению раздела на сейме 1773 г.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7406640" y="1325880"/>
            <a:ext cx="4233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≈ 30 %</a:t>
            </a:r>
            <a:endParaRPr lang="en-US" sz="5400" dirty="0"/>
          </a:p>
        </p:txBody>
      </p:sp>
      <p:sp>
        <p:nvSpPr>
          <p:cNvPr id="8" name="Text 4"/>
          <p:cNvSpPr txBox="1"/>
          <p:nvPr/>
        </p:nvSpPr>
        <p:spPr>
          <a:xfrm>
            <a:off x="7406640" y="2240280"/>
            <a:ext cx="4233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территории Речи Посполитой отошло к соседям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7406640" y="3063240"/>
            <a:ext cx="256032" cy="256032"/>
          </a:xfrm>
          <a:prstGeom prst="rect">
            <a:avLst/>
          </a:prstGeom>
          <a:solidFill>
            <a:srgbClr val="BE9591"/>
          </a:solidFill>
          <a:ln w="6350">
            <a:solidFill>
              <a:srgbClr val="7A7A7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818120" y="3017520"/>
            <a:ext cx="3822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Россия — восточная Беларусь: Полоцк, Витебск, Могилёв, Мстиславль, Гомель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7406640" y="4023360"/>
            <a:ext cx="256032" cy="256032"/>
          </a:xfrm>
          <a:prstGeom prst="rect">
            <a:avLst/>
          </a:prstGeom>
          <a:solidFill>
            <a:srgbClr val="8DBA4D"/>
          </a:solidFill>
          <a:ln w="6350">
            <a:solidFill>
              <a:srgbClr val="7A7A7A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818120" y="3977640"/>
            <a:ext cx="3822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Австрия — Галиция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7406640" y="4526280"/>
            <a:ext cx="256032" cy="256032"/>
          </a:xfrm>
          <a:prstGeom prst="rect">
            <a:avLst/>
          </a:prstGeom>
          <a:solidFill>
            <a:srgbClr val="81A8B1"/>
          </a:solidFill>
          <a:ln w="6350">
            <a:solidFill>
              <a:srgbClr val="7A7A7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818120" y="4480560"/>
            <a:ext cx="3822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Пруссия — Поморье (без Гданьска)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7406640" y="5120640"/>
            <a:ext cx="4233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</a:rPr>
              <a:t>Новая граница с Россией прошла по Западной Двине, Друти и Днепру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2910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Конституция 3 мая 1791 года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Четырёхлетний сейм (1788–1792) пытался спасти государство реформами</a:t>
            </a:r>
            <a:endParaRPr lang="en-US" sz="1600" dirty="0"/>
          </a:p>
        </p:txBody>
      </p:sp>
      <p:sp>
        <p:nvSpPr>
          <p:cNvPr id="5" name="highlight"/>
          <p:cNvSpPr/>
          <p:nvPr/>
        </p:nvSpPr>
        <p:spPr>
          <a:xfrm>
            <a:off x="548640" y="2176272"/>
            <a:ext cx="4343400" cy="960120"/>
          </a:xfrm>
          <a:prstGeom prst="rect">
            <a:avLst/>
          </a:prstGeom>
          <a:solidFill>
            <a:schemeClr val="bg2"/>
          </a:solidFill>
          <a:ln w="6350">
            <a:solidFill>
              <a:srgbClr val="E4DAC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224028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Первая конституция в Европе и вторая в мире — после США (1787)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337560"/>
            <a:ext cx="4343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Отмена «либерум вето»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Наследственная королевская власть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Разделение властей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Армия в 100 тысяч человек</a:t>
            </a:r>
            <a:endParaRPr lang="en-US" sz="1600" dirty="0"/>
          </a:p>
        </p:txBody>
      </p:sp>
      <p:sp>
        <p:nvSpPr>
          <p:cNvPr id="8" name="Конституция 3 мая frame"/>
          <p:cNvSpPr/>
          <p:nvPr/>
        </p:nvSpPr>
        <p:spPr>
          <a:xfrm>
            <a:off x="5175504" y="1399032"/>
            <a:ext cx="6528816" cy="3675888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30000"/>
              </a:srgbClr>
            </a:outerShdw>
          </a:effectLst>
        </p:spPr>
      </p:sp>
      <p:pic>
        <p:nvPicPr>
          <p:cNvPr id="9" name="Конституция 3 мая" descr="Конституция 3 мая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9512" y="1463040"/>
            <a:ext cx="6400800" cy="354787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239512" y="513892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</a:rPr>
              <a:t>Я. Матейко. «Конституция 3 мая 1791 года» (1891)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20 октября 1791 г.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— «Взаимное заручение обоих народов»: равные права ВКЛ и Польши в общем государстве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2910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Второй раздел — 1793 год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58368" y="1600200"/>
            <a:ext cx="0" cy="3291840"/>
          </a:xfrm>
          <a:prstGeom prst="line">
            <a:avLst/>
          </a:prstGeom>
          <a:noFill/>
          <a:ln w="19050">
            <a:solidFill>
              <a:srgbClr val="A8824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66928" y="1527048"/>
            <a:ext cx="182880" cy="18288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60120" y="1463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Май 1792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1792224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Тарговицкая конфедерация магнатов при поддержке Екатерины II. Война с Россией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66928" y="2624328"/>
            <a:ext cx="182880" cy="18288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60120" y="2560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18 июля 1792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2889504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Бой под Дубенкой: Т. Костюшко сдерживает превосходящие силы противника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66928" y="3721608"/>
            <a:ext cx="182880" cy="18288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60120" y="3657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23 января 1793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960120" y="3986784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Договор России и Пруссии о втором разделе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66928" y="4818888"/>
            <a:ext cx="182880" cy="18288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60120" y="4754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Июнь — ноябрь 1793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960120" y="5084064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Гродненский сейм — последний сейм Речи Посполитой («немой сейм»)</a:t>
            </a:r>
            <a:endParaRPr lang="en-US" sz="1500" dirty="0"/>
          </a:p>
        </p:txBody>
      </p:sp>
      <p:sp>
        <p:nvSpPr>
          <p:cNvPr id="17" name="Новый замок в Гродно frame"/>
          <p:cNvSpPr/>
          <p:nvPr/>
        </p:nvSpPr>
        <p:spPr>
          <a:xfrm>
            <a:off x="6181344" y="1399032"/>
            <a:ext cx="5522976" cy="2432304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30000"/>
              </a:srgbClr>
            </a:outerShdw>
          </a:effectLst>
        </p:spPr>
      </p:sp>
      <p:pic>
        <p:nvPicPr>
          <p:cNvPr id="18" name="Новый замок в Гродно" descr="Новый замок в Гродн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5352" y="1463040"/>
            <a:ext cx="5394960" cy="230428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6245352" y="390448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</a:rPr>
              <a:t>Новый замок в Гродно — здесь в 1793 г. проходил последний сейм Речи Посполитой</a:t>
            </a:r>
            <a:endParaRPr lang="en-US" sz="1200" dirty="0"/>
          </a:p>
        </p:txBody>
      </p:sp>
      <p:sp>
        <p:nvSpPr>
          <p:cNvPr id="20" name="result box"/>
          <p:cNvSpPr/>
          <p:nvPr/>
        </p:nvSpPr>
        <p:spPr>
          <a:xfrm>
            <a:off x="6245352" y="4572000"/>
            <a:ext cx="5394960" cy="1417320"/>
          </a:xfrm>
          <a:prstGeom prst="rect">
            <a:avLst/>
          </a:prstGeom>
          <a:solidFill>
            <a:schemeClr val="bg2"/>
          </a:solidFill>
          <a:ln w="6350">
            <a:solidFill>
              <a:srgbClr val="E4DACD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428232" y="466344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Россия: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центральная Беларусь с Минском и Правобережная Украина (≈ 250 тыс. км²)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Пруссия: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Гданьск, Торунь, Великая Польша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2910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Тадеуш Костюшко (1746–1817)</a:t>
            </a:r>
            <a:endParaRPr lang="en-US" sz="3200" dirty="0"/>
          </a:p>
        </p:txBody>
      </p:sp>
      <p:sp>
        <p:nvSpPr>
          <p:cNvPr id="4" name="Портрет Т. Костюшко frame"/>
          <p:cNvSpPr/>
          <p:nvPr/>
        </p:nvSpPr>
        <p:spPr>
          <a:xfrm>
            <a:off x="484632" y="1399032"/>
            <a:ext cx="3310128" cy="43342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30000"/>
              </a:srgbClr>
            </a:outerShdw>
          </a:effectLst>
        </p:spPr>
      </p:sp>
      <p:pic>
        <p:nvPicPr>
          <p:cNvPr id="5" name="Портрет Т. Костюшко" descr="Портрет Т. Костюшк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3182112" cy="42062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788152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</a:rPr>
              <a:t>К. Г. Швейкарт. Портрет Т. Костюшко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114800" y="14173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1746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4114800" y="1719072"/>
            <a:ext cx="3931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Родился в фольварке Меречёвщина (Ивацевичский р-н Брестской обл.)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4114800" y="24414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1765–1769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4114800" y="2743200"/>
            <a:ext cx="3931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Рыцарская школа в Варшаве, затем учёба в Париже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4114800" y="346557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1776–1783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114800" y="3767328"/>
            <a:ext cx="3931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Война за независимость США: Саратога, Вест-Пойнт, бригадный генерал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114800" y="44897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1792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114800" y="479145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Герой боя под Дубенкой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114800" y="52852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1794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4114800" y="558698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Начальник восстания</a:t>
            </a:r>
            <a:endParaRPr lang="en-US" sz="1500" dirty="0"/>
          </a:p>
        </p:txBody>
      </p:sp>
      <p:sp>
        <p:nvSpPr>
          <p:cNvPr id="17" name="Дом в Меречёвщине frame"/>
          <p:cNvSpPr/>
          <p:nvPr/>
        </p:nvSpPr>
        <p:spPr>
          <a:xfrm>
            <a:off x="8257032" y="1399032"/>
            <a:ext cx="3447288" cy="2322576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30000"/>
              </a:srgbClr>
            </a:outerShdw>
          </a:effectLst>
        </p:spPr>
      </p:sp>
      <p:pic>
        <p:nvPicPr>
          <p:cNvPr id="18" name="Дом в Меречёвщине" descr="Дом в Меречёвщине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463040"/>
            <a:ext cx="3319272" cy="21945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21040" y="3794760"/>
            <a:ext cx="3319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</a:rPr>
              <a:t>Восстановленный дом в Меречёвщине. Музей-усадьба открыт в 2004 г.</a:t>
            </a:r>
            <a:endParaRPr lang="en-US" sz="1200" dirty="0"/>
          </a:p>
        </p:txBody>
      </p:sp>
      <p:sp>
        <p:nvSpPr>
          <p:cNvPr id="20" name="hero box"/>
          <p:cNvSpPr/>
          <p:nvPr/>
        </p:nvSpPr>
        <p:spPr>
          <a:xfrm>
            <a:off x="8321040" y="4572000"/>
            <a:ext cx="3319272" cy="1097280"/>
          </a:xfrm>
          <a:prstGeom prst="rect">
            <a:avLst/>
          </a:prstGeom>
          <a:solidFill>
            <a:schemeClr val="bg2"/>
          </a:solidFill>
          <a:ln w="6350">
            <a:solidFill>
              <a:srgbClr val="E4DACD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8485632" y="4617720"/>
            <a:ext cx="2990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Национальный герой Беларуси, Польши, Литвы и США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2910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Начало восстания — 1794 год</a:t>
            </a:r>
            <a:endParaRPr lang="en-US" sz="3200" dirty="0"/>
          </a:p>
        </p:txBody>
      </p:sp>
      <p:sp>
        <p:nvSpPr>
          <p:cNvPr id="4" name="Присяга Костюшко frame"/>
          <p:cNvSpPr/>
          <p:nvPr/>
        </p:nvSpPr>
        <p:spPr>
          <a:xfrm>
            <a:off x="484632" y="1399032"/>
            <a:ext cx="4764024" cy="4151376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30000"/>
              </a:srgbClr>
            </a:outerShdw>
          </a:effectLst>
        </p:spPr>
      </p:sp>
      <p:pic>
        <p:nvPicPr>
          <p:cNvPr id="5" name="Присяга Костюшко" descr="Присяга Костюшк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4636008" cy="40233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605272"/>
            <a:ext cx="4636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</a:rPr>
              <a:t>Ф. Смуглевич. «Присяга Т. Костюшко на Рыночной площади в Кракове»</a:t>
            </a:r>
            <a:endParaRPr lang="en-US" sz="1200" dirty="0"/>
          </a:p>
        </p:txBody>
      </p:sp>
      <p:sp>
        <p:nvSpPr>
          <p:cNvPr id="7" name="quote box"/>
          <p:cNvSpPr/>
          <p:nvPr/>
        </p:nvSpPr>
        <p:spPr>
          <a:xfrm>
            <a:off x="5532120" y="1371600"/>
            <a:ext cx="6108192" cy="1417320"/>
          </a:xfrm>
          <a:prstGeom prst="rect">
            <a:avLst/>
          </a:prstGeom>
          <a:solidFill>
            <a:schemeClr val="bg2"/>
          </a:solidFill>
          <a:ln w="6350">
            <a:solidFill>
              <a:srgbClr val="E4DACD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715000" y="1444752"/>
            <a:ext cx="5760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«…вверенную мне власть ни для чьего притеснения не употреблю, а использую только для защиты целостности границ, возвращения самостоятельности народа и утверждения всеобщей свободы»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— из присяги Т. Костюшко, 24 марта 1794 г.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5532120" y="3017520"/>
            <a:ext cx="1463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24 марта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132320" y="3017520"/>
            <a:ext cx="45079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Присяга в Кракове. Костюшко — Начальник восстания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5532120" y="3639312"/>
            <a:ext cx="1463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4 апреля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7132320" y="3639312"/>
            <a:ext cx="45079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Победа под Рацлавицами, в бой идут крестьяне-косиньеры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532120" y="4261104"/>
            <a:ext cx="1463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17–18 апреля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132320" y="4261104"/>
            <a:ext cx="45079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Восстание в Варшаве (сапожник Ян Килинский)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5532120" y="4882896"/>
            <a:ext cx="1463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22–23 апреля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7132320" y="4882896"/>
            <a:ext cx="45079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Восстание в Вильно (Якуб Ясинский)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5532120" y="5504688"/>
            <a:ext cx="1463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7 мая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7132320" y="5504688"/>
            <a:ext cx="45079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Поланецкий универсал: личная свобода крестьян, сокращение барщины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2910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Восстание на землях Беларуси и Литвы</a:t>
            </a:r>
            <a:endParaRPr lang="en-US" sz="3200" dirty="0"/>
          </a:p>
        </p:txBody>
      </p:sp>
      <p:sp>
        <p:nvSpPr>
          <p:cNvPr id="4" name="Якуб Ясинский frame"/>
          <p:cNvSpPr/>
          <p:nvPr/>
        </p:nvSpPr>
        <p:spPr>
          <a:xfrm>
            <a:off x="484632" y="1399032"/>
            <a:ext cx="2834640" cy="3694176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30000"/>
              </a:srgbClr>
            </a:outerShdw>
          </a:effectLst>
        </p:spPr>
      </p:sp>
      <p:pic>
        <p:nvPicPr>
          <p:cNvPr id="5" name="Якуб Ясинский" descr="Якуб Ясински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2706624" cy="35661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166360"/>
            <a:ext cx="2706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</a:rPr>
              <a:t>Якуб Ясинский (1761–1794) — руководитель восстания в ВКЛ, военный инженер и поэт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3657600" y="1417320"/>
            <a:ext cx="16002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22–23 апреля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5394960" y="1417320"/>
            <a:ext cx="62453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Восстание в Вильно, провозглашён Акт восстания литовского народа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3657600" y="2020824"/>
            <a:ext cx="16002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7 мая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5394960" y="2020824"/>
            <a:ext cx="62453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Ясинский разбивает русский отряд под Ошмянами (у д. Таляны)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3657600" y="2624328"/>
            <a:ext cx="16002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12 августа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394960" y="2624328"/>
            <a:ext cx="62453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Русские войска занимают Вильно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657600" y="3227832"/>
            <a:ext cx="16002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17 сентября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5394960" y="3227832"/>
            <a:ext cx="62453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Суворов разбивает повстанцев под Крупчицами (у Кобрина)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3657600" y="3831336"/>
            <a:ext cx="16002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19 сентября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5394960" y="3831336"/>
            <a:ext cx="62453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Поражение повстанцев под Брестом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3657600" y="4434840"/>
            <a:ext cx="16002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12 октября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5394960" y="4434840"/>
            <a:ext cx="62453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Повстанцы оставляют Гродно</a:t>
            </a:r>
            <a:endParaRPr lang="en-US" sz="1600" dirty="0"/>
          </a:p>
        </p:txBody>
      </p:sp>
      <p:sp>
        <p:nvSpPr>
          <p:cNvPr id="19" name="oginski box"/>
          <p:cNvSpPr/>
          <p:nvPr/>
        </p:nvSpPr>
        <p:spPr>
          <a:xfrm>
            <a:off x="3657600" y="5120640"/>
            <a:ext cx="7982712" cy="868680"/>
          </a:xfrm>
          <a:prstGeom prst="rect">
            <a:avLst/>
          </a:prstGeom>
          <a:solidFill>
            <a:schemeClr val="bg2"/>
          </a:solidFill>
          <a:ln w="6350">
            <a:solidFill>
              <a:srgbClr val="E4DACD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3840480" y="5166360"/>
            <a:ext cx="7635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М. К. Огинский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на собственные средства сформировал батальон егерей и воевал на стороне повстанцев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2910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Поражение восстания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58368" y="1600200"/>
            <a:ext cx="0" cy="3657600"/>
          </a:xfrm>
          <a:prstGeom prst="line">
            <a:avLst/>
          </a:prstGeom>
          <a:noFill/>
          <a:ln w="19050">
            <a:solidFill>
              <a:srgbClr val="A8824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66928" y="1527048"/>
            <a:ext cx="182880" cy="18288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60120" y="1463040"/>
            <a:ext cx="4983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10 октября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1773936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Битва под Мацеёвицами. Раненый Костюшко попадает в плен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66928" y="2441448"/>
            <a:ext cx="182880" cy="18288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60120" y="2377440"/>
            <a:ext cx="4983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 ноября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2688336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Войска А. В. Суворова штурмуют Прагу — предместье Варшавы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66928" y="3355848"/>
            <a:ext cx="182880" cy="18288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60120" y="3291840"/>
            <a:ext cx="4983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 ноября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960120" y="3602736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Капитуляция Варшавы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66928" y="4270248"/>
            <a:ext cx="182880" cy="18288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60120" y="4206240"/>
            <a:ext cx="4983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16 ноября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960120" y="4517136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Последние отряды повстанцев складывают оружие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66928" y="5184648"/>
            <a:ext cx="182880" cy="18288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60120" y="5120640"/>
            <a:ext cx="4983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1794–1796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960120" y="5431536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Костюшко в плену в Петербурге, освобождён Павлом I</a:t>
            </a:r>
            <a:endParaRPr lang="en-US" sz="1500" dirty="0"/>
          </a:p>
        </p:txBody>
      </p:sp>
      <p:sp>
        <p:nvSpPr>
          <p:cNvPr id="20" name="Костюшко под Мацеёвицами frame"/>
          <p:cNvSpPr/>
          <p:nvPr/>
        </p:nvSpPr>
        <p:spPr>
          <a:xfrm>
            <a:off x="6089904" y="1399032"/>
            <a:ext cx="5614416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30000"/>
              </a:srgbClr>
            </a:outerShdw>
          </a:effectLst>
        </p:spPr>
      </p:sp>
      <p:pic>
        <p:nvPicPr>
          <p:cNvPr id="21" name="Костюшко под Мацеёвицами" descr="Костюшко под Мацеёвицам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3912" y="1463040"/>
            <a:ext cx="5486400" cy="1911096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153912" y="34930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</a:rPr>
              <a:t>Я. Б. Плерш. «Костюшко под Мацеёвицами»</a:t>
            </a:r>
            <a:endParaRPr lang="en-US" sz="1200" dirty="0"/>
          </a:p>
        </p:txBody>
      </p:sp>
      <p:sp>
        <p:nvSpPr>
          <p:cNvPr id="23" name="Оборона Праги frame"/>
          <p:cNvSpPr/>
          <p:nvPr/>
        </p:nvSpPr>
        <p:spPr>
          <a:xfrm>
            <a:off x="6089904" y="3959352"/>
            <a:ext cx="3236976" cy="22768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30000"/>
              </a:srgbClr>
            </a:outerShdw>
          </a:effectLst>
        </p:spPr>
      </p:sp>
      <p:pic>
        <p:nvPicPr>
          <p:cNvPr id="24" name="Оборона Праги" descr="Оборона Праги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912" y="4023360"/>
            <a:ext cx="3108960" cy="214884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9464040" y="4023360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</a:rPr>
              <a:t>А. Орловский, участник восстания. «Оборона Праги»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2910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Третий раздел — 1795 год. Итоги</a:t>
            </a:r>
            <a:endParaRPr lang="en-US" sz="3200" dirty="0"/>
          </a:p>
        </p:txBody>
      </p:sp>
      <p:sp>
        <p:nvSpPr>
          <p:cNvPr id="4" name="Карта разделов frame"/>
          <p:cNvSpPr/>
          <p:nvPr/>
        </p:nvSpPr>
        <p:spPr>
          <a:xfrm>
            <a:off x="484632" y="1353312"/>
            <a:ext cx="5632704" cy="4654296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30000"/>
              </a:srgbClr>
            </a:outerShdw>
          </a:effectLst>
        </p:spPr>
      </p:sp>
      <p:pic>
        <p:nvPicPr>
          <p:cNvPr id="5" name="Карта разделов" descr="Карта разделов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5504688" cy="45262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035040"/>
            <a:ext cx="5504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</a:rPr>
              <a:t>Разделы Речи Посполитой: 1772, 1793 и 1795 гг.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7680960" y="1371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1772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8412480" y="1371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1793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9144000" y="1371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1795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6446520" y="170078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Россия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7772400" y="1700784"/>
            <a:ext cx="457200" cy="237744"/>
          </a:xfrm>
          <a:prstGeom prst="rect">
            <a:avLst/>
          </a:prstGeom>
          <a:solidFill>
            <a:srgbClr val="BE9591"/>
          </a:solidFill>
          <a:ln w="6350">
            <a:solidFill>
              <a:srgbClr val="7A7A7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503920" y="1700784"/>
            <a:ext cx="457200" cy="237744"/>
          </a:xfrm>
          <a:prstGeom prst="rect">
            <a:avLst/>
          </a:prstGeom>
          <a:solidFill>
            <a:srgbClr val="C6ADA9"/>
          </a:solidFill>
          <a:ln w="6350">
            <a:solidFill>
              <a:srgbClr val="7A7A7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9235440" y="1700784"/>
            <a:ext cx="457200" cy="237744"/>
          </a:xfrm>
          <a:prstGeom prst="rect">
            <a:avLst/>
          </a:prstGeom>
          <a:solidFill>
            <a:srgbClr val="E8B8B3"/>
          </a:solidFill>
          <a:ln w="6350">
            <a:solidFill>
              <a:srgbClr val="7A7A7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446520" y="20299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Пруссия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7772400" y="2029968"/>
            <a:ext cx="457200" cy="237744"/>
          </a:xfrm>
          <a:prstGeom prst="rect">
            <a:avLst/>
          </a:prstGeom>
          <a:solidFill>
            <a:srgbClr val="81A8B1"/>
          </a:solidFill>
          <a:ln w="6350">
            <a:solidFill>
              <a:srgbClr val="7A7A7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503920" y="2029968"/>
            <a:ext cx="457200" cy="237744"/>
          </a:xfrm>
          <a:prstGeom prst="rect">
            <a:avLst/>
          </a:prstGeom>
          <a:solidFill>
            <a:srgbClr val="99C6D4"/>
          </a:solidFill>
          <a:ln w="6350">
            <a:solidFill>
              <a:srgbClr val="7A7A7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235440" y="2029968"/>
            <a:ext cx="457200" cy="237744"/>
          </a:xfrm>
          <a:prstGeom prst="rect">
            <a:avLst/>
          </a:prstGeom>
          <a:solidFill>
            <a:srgbClr val="AEE0F3"/>
          </a:solidFill>
          <a:ln w="6350">
            <a:solidFill>
              <a:srgbClr val="7A7A7A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446520" y="23591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Австрия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7772400" y="2359152"/>
            <a:ext cx="457200" cy="237744"/>
          </a:xfrm>
          <a:prstGeom prst="rect">
            <a:avLst/>
          </a:prstGeom>
          <a:solidFill>
            <a:srgbClr val="8DBA4D"/>
          </a:solidFill>
          <a:ln w="6350">
            <a:solidFill>
              <a:srgbClr val="7A7A7A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412480" y="23591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</a:rPr>
              <a:t>—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9235440" y="2359152"/>
            <a:ext cx="457200" cy="237744"/>
          </a:xfrm>
          <a:prstGeom prst="rect">
            <a:avLst/>
          </a:prstGeom>
          <a:solidFill>
            <a:srgbClr val="C1FF6A"/>
          </a:solidFill>
          <a:ln w="6350">
            <a:solidFill>
              <a:srgbClr val="7A7A7A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446520" y="2834640"/>
            <a:ext cx="17830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24 октября 1795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8366760" y="2834640"/>
            <a:ext cx="34107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Третий раздел: Россия, Пруссия и Австрия делят остаток страны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6446520" y="3493008"/>
            <a:ext cx="17830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25 ноября 1795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8366760" y="3493008"/>
            <a:ext cx="34107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В Гродно король Станислав Август отрекается от престола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6446520" y="4151376"/>
            <a:ext cx="17830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1797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8366760" y="4151376"/>
            <a:ext cx="34107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Окончательное соглашение держав: государство перестаёт существовать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6446520" y="4846320"/>
            <a:ext cx="5193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Итоги для Беларуси</a:t>
            </a:r>
            <a:endParaRPr lang="en-US" sz="2000" dirty="0"/>
          </a:p>
        </p:txBody>
      </p:sp>
      <p:sp>
        <p:nvSpPr>
          <p:cNvPr id="29" name="Text 25"/>
          <p:cNvSpPr txBox="1"/>
          <p:nvPr/>
        </p:nvSpPr>
        <p:spPr>
          <a:xfrm>
            <a:off x="6446520" y="5257800"/>
            <a:ext cx="5193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Все белорусские земли — в составе Российской империи (более 120 лет)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Эмиграция участников восстания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2910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Восстание и музыка: М. К. Огинский</a:t>
            </a:r>
            <a:endParaRPr lang="en-US" sz="3200" dirty="0"/>
          </a:p>
        </p:txBody>
      </p:sp>
      <p:sp>
        <p:nvSpPr>
          <p:cNvPr id="4" name="Портрет М. К. Огинского frame"/>
          <p:cNvSpPr/>
          <p:nvPr/>
        </p:nvSpPr>
        <p:spPr>
          <a:xfrm>
            <a:off x="484632" y="1399032"/>
            <a:ext cx="3191256" cy="40599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30000"/>
              </a:srgbClr>
            </a:outerShdw>
          </a:effectLst>
        </p:spPr>
      </p:sp>
      <p:pic>
        <p:nvPicPr>
          <p:cNvPr id="5" name="Портрет М. К. Огинского" descr="Портрет М. К. Огинског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3063240" cy="3931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5321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</a:rPr>
              <a:t>Ф.-К. Фабр. Портрет М. К. Огинского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3977640" y="137160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Михаил Клеофас Огинский (1765–1833)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— композитор, дипломат, участник восстания 1794 г.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3977640" y="2377440"/>
            <a:ext cx="4069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Сформировал на свои средства батальон егерей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Писал марши и боевые песни, популярные у повстанцев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После поражения эмигрировал</a:t>
            </a:r>
            <a:endParaRPr lang="en-US" sz="1600" dirty="0"/>
          </a:p>
        </p:txBody>
      </p:sp>
      <p:sp>
        <p:nvSpPr>
          <p:cNvPr id="9" name="polonaise box"/>
          <p:cNvSpPr/>
          <p:nvPr/>
        </p:nvSpPr>
        <p:spPr>
          <a:xfrm>
            <a:off x="3977640" y="4297680"/>
            <a:ext cx="4069080" cy="1371600"/>
          </a:xfrm>
          <a:prstGeom prst="rect">
            <a:avLst/>
          </a:prstGeom>
          <a:solidFill>
            <a:schemeClr val="bg2"/>
          </a:solidFill>
          <a:ln w="6350">
            <a:solidFill>
              <a:srgbClr val="E4DACD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160520" y="4645152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160520" y="46451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♫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4983480" y="4370832"/>
            <a:ext cx="29260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Полонез ля минор «Прощание с Родиной» по традиции связывают с 1794 годом</a:t>
            </a:r>
            <a:endParaRPr lang="en-US" sz="1500" dirty="0"/>
          </a:p>
        </p:txBody>
      </p:sp>
      <p:sp>
        <p:nvSpPr>
          <p:cNvPr id="13" name="Усадьба в Залесье frame"/>
          <p:cNvSpPr/>
          <p:nvPr/>
        </p:nvSpPr>
        <p:spPr>
          <a:xfrm>
            <a:off x="8257032" y="1399032"/>
            <a:ext cx="3447288" cy="22311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30000"/>
              </a:srgbClr>
            </a:outerShdw>
          </a:effectLst>
        </p:spPr>
      </p:sp>
      <p:pic>
        <p:nvPicPr>
          <p:cNvPr id="14" name="Усадьба в Залесье" descr="Усадьба в Залесье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463040"/>
            <a:ext cx="3319272" cy="21031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321040" y="3703320"/>
            <a:ext cx="3319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</a:rPr>
              <a:t>Усадьба Огинских в Залесье (Сморгонский р-н). Композитор жил здесь с 1802 г., сейчас — музей-усадьба</a:t>
            </a:r>
            <a:endParaRPr lang="en-US" sz="1200" dirty="0"/>
          </a:p>
        </p:txBody>
      </p:sp>
      <p:sp>
        <p:nvSpPr>
          <p:cNvPr id="16" name="fact box"/>
          <p:cNvSpPr/>
          <p:nvPr/>
        </p:nvSpPr>
        <p:spPr>
          <a:xfrm>
            <a:off x="8321040" y="4709160"/>
            <a:ext cx="3319272" cy="960120"/>
          </a:xfrm>
          <a:prstGeom prst="rect">
            <a:avLst/>
          </a:prstGeom>
          <a:solidFill>
            <a:schemeClr val="bg2"/>
          </a:solidFill>
          <a:ln w="6350">
            <a:solidFill>
              <a:srgbClr val="E4DACD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8458200" y="4754880"/>
            <a:ext cx="3044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Костюшко и Огинский умерли в один день — 15 октября (1817 и 1833 гг.)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2910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Меречёвщина, литография 1848 г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914400" y="260604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Спасибо за внимание!</a:t>
            </a:r>
            <a:endParaRPr lang="en-US" sz="4800" dirty="0"/>
          </a:p>
        </p:txBody>
      </p:sp>
      <p:sp>
        <p:nvSpPr>
          <p:cNvPr id="6" name="Text 2"/>
          <p:cNvSpPr txBox="1"/>
          <p:nvPr/>
        </p:nvSpPr>
        <p:spPr>
          <a:xfrm>
            <a:off x="4114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E0E0E0"/>
                </a:solidFill>
              </a:rPr>
              <a:t>Меречёвщина — дом, где родился Т. Костюшко. Литография Л. Бишбуа (1848)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storiya">
  <a:themeElements>
    <a:clrScheme name="Istoriya">
      <a:dk1>
        <a:srgbClr val="262626"/>
      </a:dk1>
      <a:lt1>
        <a:srgbClr val="FFFFFF"/>
      </a:lt1>
      <a:dk2>
        <a:srgbClr val="6E1E2A"/>
      </a:dk2>
      <a:lt2>
        <a:srgbClr val="F4EFE9"/>
      </a:lt2>
      <a:accent1>
        <a:srgbClr val="6E1E2A"/>
      </a:accent1>
      <a:accent2>
        <a:srgbClr val="A8824B"/>
      </a:accent2>
      <a:accent3>
        <a:srgbClr val="3E4F5E"/>
      </a:accent3>
      <a:accent4>
        <a:srgbClr val="8C6A4F"/>
      </a:accent4>
      <a:accent5>
        <a:srgbClr val="5E7A5A"/>
      </a:accent5>
      <a:accent6>
        <a:srgbClr val="B65A3C"/>
      </a:accent6>
      <a:hlink>
        <a:srgbClr val="6E1E2A"/>
      </a:hlink>
      <a:folHlink>
        <a:srgbClr val="8C6A4F"/>
      </a:folHlink>
    </a:clrScheme>
    <a:fontScheme name="Istoriy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Разделы Речи Посполитой и восстание Тадеуша Костюшко</dc:title>
  <dc:subject>PptxGenJS Presentation</dc:subject>
  <dc:creator>PptxGenJS</dc:creator>
  <cp:lastModifiedBy>PptxGenJS</cp:lastModifiedBy>
  <cp:revision>1</cp:revision>
  <dcterms:created xsi:type="dcterms:W3CDTF">2026-10-29T18:44:12Z</dcterms:created>
  <dcterms:modified xsi:type="dcterms:W3CDTF">2026-10-29T18:44:12Z</dcterms:modified>
</cp:coreProperties>
</file>